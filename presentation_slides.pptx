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8" r:id="rId4"/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y="5143500" cx="9144000"/>
  <p:notesSz cx="6858000" cy="9144000"/>
  <p:embeddedFontLst>
    <p:embeddedFont>
      <p:font typeface="Titillium Web SemiBold"/>
      <p:regular r:id="rId14"/>
      <p:bold r:id="rId15"/>
      <p:italic r:id="rId16"/>
      <p:boldItalic r:id="rId17"/>
    </p:embeddedFont>
    <p:embeddedFont>
      <p:font typeface="Libre Franklin"/>
      <p:regular r:id="rId18"/>
      <p:bold r:id="rId19"/>
      <p:italic r:id="rId20"/>
      <p:boldItalic r:id="rId21"/>
    </p:embeddedFont>
    <p:embeddedFont>
      <p:font typeface="Titillium Web"/>
      <p:regular r:id="rId22"/>
      <p:bold r:id="rId23"/>
      <p:italic r:id="rId24"/>
      <p:boldItalic r:id="rId25"/>
    </p:embeddedFont>
    <p:embeddedFont>
      <p:font typeface="Helvetica Neue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ibreFranklin-italic.fntdata"/><Relationship Id="rId22" Type="http://schemas.openxmlformats.org/officeDocument/2006/relationships/font" Target="fonts/TitilliumWeb-regular.fntdata"/><Relationship Id="rId21" Type="http://schemas.openxmlformats.org/officeDocument/2006/relationships/font" Target="fonts/LibreFranklin-boldItalic.fntdata"/><Relationship Id="rId24" Type="http://schemas.openxmlformats.org/officeDocument/2006/relationships/font" Target="fonts/TitilliumWeb-italic.fntdata"/><Relationship Id="rId23" Type="http://schemas.openxmlformats.org/officeDocument/2006/relationships/font" Target="fonts/TitilliumWeb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HelveticaNeue-regular.fntdata"/><Relationship Id="rId25" Type="http://schemas.openxmlformats.org/officeDocument/2006/relationships/font" Target="fonts/TitilliumWeb-boldItalic.fntdata"/><Relationship Id="rId28" Type="http://schemas.openxmlformats.org/officeDocument/2006/relationships/font" Target="fonts/HelveticaNeue-italic.fntdata"/><Relationship Id="rId27" Type="http://schemas.openxmlformats.org/officeDocument/2006/relationships/font" Target="fonts/HelveticaNeue-bold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HelveticaNeue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font" Target="fonts/TitilliumWebSemiBold-bold.fntdata"/><Relationship Id="rId14" Type="http://schemas.openxmlformats.org/officeDocument/2006/relationships/font" Target="fonts/TitilliumWebSemiBold-regular.fntdata"/><Relationship Id="rId17" Type="http://schemas.openxmlformats.org/officeDocument/2006/relationships/font" Target="fonts/TitilliumWebSemiBold-boldItalic.fntdata"/><Relationship Id="rId16" Type="http://schemas.openxmlformats.org/officeDocument/2006/relationships/font" Target="fonts/TitilliumWebSemiBold-italic.fntdata"/><Relationship Id="rId19" Type="http://schemas.openxmlformats.org/officeDocument/2006/relationships/font" Target="fonts/LibreFranklin-bold.fntdata"/><Relationship Id="rId18" Type="http://schemas.openxmlformats.org/officeDocument/2006/relationships/font" Target="fonts/LibreFranklin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" name="Google Shape;5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4" name="Google Shape;64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4" name="Google Shape;74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ef853864f3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ef853864f3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1" name="Google Shape;131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9" name="Google Shape;139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10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10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dark (phone)" type="tx">
  <p:cSld name="TITLE_AND_BODY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3999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2" name="Google Shape;1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6000" y="325382"/>
            <a:ext cx="1982574" cy="483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 title="image-14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68225" y="691999"/>
            <a:ext cx="3759524" cy="3759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slide light texture A">
  <p:cSld name="CUSTOM_2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5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3999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32726" y="188875"/>
            <a:ext cx="1406326" cy="343254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3"/>
          <p:cNvSpPr/>
          <p:nvPr/>
        </p:nvSpPr>
        <p:spPr>
          <a:xfrm>
            <a:off x="0" y="4810691"/>
            <a:ext cx="9144000" cy="3531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8" name="Google Shape;18;p3"/>
          <p:cNvSpPr txBox="1"/>
          <p:nvPr/>
        </p:nvSpPr>
        <p:spPr>
          <a:xfrm>
            <a:off x="5721359" y="4887439"/>
            <a:ext cx="32364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tillium Web Light"/>
              <a:buNone/>
            </a:pPr>
            <a:r>
              <a:rPr b="1" i="0" lang="en" sz="1200" u="none" cap="none" strike="noStrik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rPr>
              <a:t>@interledger  #OpenPayments</a:t>
            </a:r>
            <a:endParaRPr b="1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3"/>
          <p:cNvSpPr txBox="1"/>
          <p:nvPr/>
        </p:nvSpPr>
        <p:spPr>
          <a:xfrm>
            <a:off x="1399416" y="4880841"/>
            <a:ext cx="8442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tillium Web Light"/>
              <a:buNone/>
            </a:pPr>
            <a:r>
              <a:rPr b="1" i="0" lang="en" sz="1400" u="none" cap="none" strike="noStrik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rPr>
              <a:t>#ILPHacks</a:t>
            </a:r>
            <a:endParaRPr b="1" i="0" sz="1400" u="none" cap="none" strike="noStrike">
              <a:solidFill>
                <a:schemeClr val="dk1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pic>
        <p:nvPicPr>
          <p:cNvPr id="20" name="Google Shape;20;p3" title="image-15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>
            <a:off x="90700" y="4173187"/>
            <a:ext cx="1308725" cy="9849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dark (phone) 1">
  <p:cSld name="TITLE_AND_BODY_1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22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3999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4" name="Google Shape;24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6000" y="325382"/>
            <a:ext cx="1982574" cy="483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slide dark gradient">
  <p:cSld name="CUSTOM_1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3999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32726" y="188875"/>
            <a:ext cx="1406326" cy="3432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slide no background B">
  <p:cSld name="CUSTOM_4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oogle Shape;29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532749" y="188875"/>
            <a:ext cx="1406326" cy="343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dark (phone)" type="tx">
  <p:cSld name="TITLE_AND_BODY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Google Shape;35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3999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7" name="Google Shape;3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6000" y="325382"/>
            <a:ext cx="1982574" cy="483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" name="Google Shape;38;p8" title="image-14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68225" y="691999"/>
            <a:ext cx="3759524" cy="3759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slide light texture A">
  <p:cSld name="CUSTOM_2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Google Shape;40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3999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" name="Google Shape;41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32726" y="188875"/>
            <a:ext cx="1406326" cy="343254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9"/>
          <p:cNvSpPr/>
          <p:nvPr/>
        </p:nvSpPr>
        <p:spPr>
          <a:xfrm>
            <a:off x="0" y="4810691"/>
            <a:ext cx="9144000" cy="3531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3" name="Google Shape;43;p9"/>
          <p:cNvSpPr txBox="1"/>
          <p:nvPr/>
        </p:nvSpPr>
        <p:spPr>
          <a:xfrm>
            <a:off x="5721359" y="4887439"/>
            <a:ext cx="32364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tillium Web Light"/>
              <a:buNone/>
            </a:pPr>
            <a:r>
              <a:rPr b="1" i="0" lang="en" sz="1200" u="none" cap="none" strike="noStrik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rPr>
              <a:t>@interledger  #OpenPayments</a:t>
            </a:r>
            <a:endParaRPr b="1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9"/>
          <p:cNvSpPr txBox="1"/>
          <p:nvPr/>
        </p:nvSpPr>
        <p:spPr>
          <a:xfrm>
            <a:off x="1399416" y="4880841"/>
            <a:ext cx="8442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tillium Web Light"/>
              <a:buNone/>
            </a:pPr>
            <a:r>
              <a:rPr b="1" i="0" lang="en" sz="1400" u="none" cap="none" strike="noStrik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rPr>
              <a:t>#ILPHacks</a:t>
            </a:r>
            <a:endParaRPr b="1" i="0" sz="1400" u="none" cap="none" strike="noStrike">
              <a:solidFill>
                <a:schemeClr val="dk1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pic>
        <p:nvPicPr>
          <p:cNvPr id="45" name="Google Shape;45;p9" title="image-15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>
            <a:off x="90700" y="4173187"/>
            <a:ext cx="1308725" cy="9849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dark (phone) 1">
  <p:cSld name="TITLE_AND_BODY_1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Google Shape;47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3999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9" name="Google Shape;49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6000" y="325382"/>
            <a:ext cx="1982574" cy="483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slide dark gradient">
  <p:cSld name="CUSTOM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3999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" name="Google Shape;52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32726" y="188875"/>
            <a:ext cx="1406326" cy="3432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slide no background B">
  <p:cSld name="CUSTOM_4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532749" y="188875"/>
            <a:ext cx="1406326" cy="343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2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slideLayout" Target="../slideLayouts/slideLayout7.xml"/><Relationship Id="rId3" Type="http://schemas.openxmlformats.org/officeDocument/2006/relationships/slideLayout" Target="../slideLayouts/slideLayout8.xml"/><Relationship Id="rId4" Type="http://schemas.openxmlformats.org/officeDocument/2006/relationships/slideLayout" Target="../slideLayouts/slideLayout9.xml"/><Relationship Id="rId5" Type="http://schemas.openxmlformats.org/officeDocument/2006/relationships/slideLayout" Target="../slideLayouts/slideLayout10.xml"/><Relationship Id="rId6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tillium Web"/>
              <a:buNone/>
              <a:defRPr b="0" i="0" sz="2800" u="none" cap="none" strike="noStrik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Titillium Web"/>
              <a:buChar char="●"/>
              <a:defRPr b="0" i="0" sz="1800" u="none" cap="none" strike="noStrike">
                <a:solidFill>
                  <a:schemeClr val="dk2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itillium Web"/>
              <a:buChar char="○"/>
              <a:defRPr b="0" i="0" sz="1400" u="none" cap="none" strike="noStrike">
                <a:solidFill>
                  <a:schemeClr val="dk2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itillium Web"/>
              <a:buChar char="■"/>
              <a:defRPr b="0" i="0" sz="1400" u="none" cap="none" strike="noStrike">
                <a:solidFill>
                  <a:schemeClr val="dk2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itillium Web"/>
              <a:buChar char="●"/>
              <a:defRPr b="0" i="0" sz="1400" u="none" cap="none" strike="noStrike">
                <a:solidFill>
                  <a:schemeClr val="dk2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itillium Web"/>
              <a:buChar char="○"/>
              <a:defRPr b="0" i="0" sz="1400" u="none" cap="none" strike="noStrike">
                <a:solidFill>
                  <a:schemeClr val="dk2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itillium Web"/>
              <a:buChar char="■"/>
              <a:defRPr b="0" i="0" sz="1400" u="none" cap="none" strike="noStrike">
                <a:solidFill>
                  <a:schemeClr val="dk2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itillium Web"/>
              <a:buChar char="●"/>
              <a:defRPr b="0" i="0" sz="1400" u="none" cap="none" strike="noStrike">
                <a:solidFill>
                  <a:schemeClr val="dk2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itillium Web"/>
              <a:buChar char="○"/>
              <a:defRPr b="0" i="0" sz="1400" u="none" cap="none" strike="noStrike">
                <a:solidFill>
                  <a:schemeClr val="dk2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itillium Web"/>
              <a:buChar char="■"/>
              <a:defRPr b="0" i="0" sz="1400" u="none" cap="none" strike="noStrike">
                <a:solidFill>
                  <a:schemeClr val="dk2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tillium Web"/>
              <a:buNone/>
              <a:defRPr b="0" i="0" sz="2800" u="none" cap="none" strike="noStrik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2" name="Google Shape;32;p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Titillium Web"/>
              <a:buChar char="●"/>
              <a:defRPr b="0" i="0" sz="1800" u="none" cap="none" strike="noStrike">
                <a:solidFill>
                  <a:schemeClr val="dk2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itillium Web"/>
              <a:buChar char="○"/>
              <a:defRPr b="0" i="0" sz="1400" u="none" cap="none" strike="noStrike">
                <a:solidFill>
                  <a:schemeClr val="dk2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itillium Web"/>
              <a:buChar char="■"/>
              <a:defRPr b="0" i="0" sz="1400" u="none" cap="none" strike="noStrike">
                <a:solidFill>
                  <a:schemeClr val="dk2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itillium Web"/>
              <a:buChar char="●"/>
              <a:defRPr b="0" i="0" sz="1400" u="none" cap="none" strike="noStrike">
                <a:solidFill>
                  <a:schemeClr val="dk2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itillium Web"/>
              <a:buChar char="○"/>
              <a:defRPr b="0" i="0" sz="1400" u="none" cap="none" strike="noStrike">
                <a:solidFill>
                  <a:schemeClr val="dk2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itillium Web"/>
              <a:buChar char="■"/>
              <a:defRPr b="0" i="0" sz="1400" u="none" cap="none" strike="noStrike">
                <a:solidFill>
                  <a:schemeClr val="dk2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itillium Web"/>
              <a:buChar char="●"/>
              <a:defRPr b="0" i="0" sz="1400" u="none" cap="none" strike="noStrike">
                <a:solidFill>
                  <a:schemeClr val="dk2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itillium Web"/>
              <a:buChar char="○"/>
              <a:defRPr b="0" i="0" sz="1400" u="none" cap="none" strike="noStrike">
                <a:solidFill>
                  <a:schemeClr val="dk2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itillium Web"/>
              <a:buChar char="■"/>
              <a:defRPr b="0" i="0" sz="1400" u="none" cap="none" strike="noStrike">
                <a:solidFill>
                  <a:schemeClr val="dk2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9pPr>
          </a:lstStyle>
          <a:p/>
        </p:txBody>
      </p:sp>
      <p:sp>
        <p:nvSpPr>
          <p:cNvPr id="33" name="Google Shape;33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3" r:id="rId1"/>
    <p:sldLayoutId id="2147483654" r:id="rId2"/>
    <p:sldLayoutId id="2147483655" r:id="rId3"/>
    <p:sldLayoutId id="2147483656" r:id="rId4"/>
    <p:sldLayoutId id="2147483657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13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12.png"/><Relationship Id="rId8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/>
          <p:nvPr/>
        </p:nvSpPr>
        <p:spPr>
          <a:xfrm>
            <a:off x="6470275" y="2556825"/>
            <a:ext cx="1463100" cy="219600"/>
          </a:xfrm>
          <a:prstGeom prst="rect">
            <a:avLst/>
          </a:prstGeom>
          <a:solidFill>
            <a:srgbClr val="0F04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200" u="none" cap="none" strike="noStrike">
                <a:solidFill>
                  <a:srgbClr val="E69138"/>
                </a:solidFill>
                <a:latin typeface="Titillium Web"/>
                <a:ea typeface="Titillium Web"/>
                <a:cs typeface="Titillium Web"/>
                <a:sym typeface="Titillium Web"/>
              </a:rPr>
              <a:t>OPEN PAYMENTS</a:t>
            </a:r>
            <a:endParaRPr b="1" i="0" sz="1200" u="none" cap="none" strike="noStrike">
              <a:solidFill>
                <a:srgbClr val="E69138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60" name="Google Shape;60;p13"/>
          <p:cNvSpPr txBox="1"/>
          <p:nvPr/>
        </p:nvSpPr>
        <p:spPr>
          <a:xfrm>
            <a:off x="329184" y="1719072"/>
            <a:ext cx="3908400" cy="11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3500">
                <a:solidFill>
                  <a:srgbClr val="EEFF41"/>
                </a:solidFill>
                <a:latin typeface="Titillium Web"/>
                <a:ea typeface="Titillium Web"/>
                <a:cs typeface="Titillium Web"/>
                <a:sym typeface="Titillium Web"/>
              </a:rPr>
              <a:t>THE BIG LEAGUE</a:t>
            </a:r>
            <a:endParaRPr b="1" i="0" sz="2600" u="none" cap="none" strike="noStrike">
              <a:solidFill>
                <a:srgbClr val="EEFF41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3000" u="none" cap="none" strike="noStrike">
                <a:solidFill>
                  <a:srgbClr val="00FFFF"/>
                </a:solidFill>
                <a:latin typeface="Titillium Web SemiBold"/>
                <a:ea typeface="Titillium Web SemiBold"/>
                <a:cs typeface="Titillium Web SemiBold"/>
                <a:sym typeface="Titillium Web SemiBold"/>
              </a:rPr>
              <a:t>Hackathon 2026</a:t>
            </a:r>
            <a:endParaRPr b="1" i="0" sz="3300" u="none" cap="none" strike="noStrike">
              <a:solidFill>
                <a:srgbClr val="00FFFF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pic>
        <p:nvPicPr>
          <p:cNvPr id="61" name="Google Shape;61;p13" title="0048_FIH_Logo-White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24150" y="380476"/>
            <a:ext cx="1783537" cy="4297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/>
          <p:nvPr/>
        </p:nvSpPr>
        <p:spPr>
          <a:xfrm>
            <a:off x="261739" y="1093775"/>
            <a:ext cx="4620900" cy="5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100F4"/>
              </a:buClr>
              <a:buSzPts val="3900"/>
              <a:buFont typeface="Titillium Web"/>
              <a:buNone/>
            </a:pPr>
            <a:r>
              <a:rPr b="1" i="0" lang="en" sz="3900" u="none" cap="none" strike="noStrike">
                <a:solidFill>
                  <a:srgbClr val="00E296"/>
                </a:solidFill>
                <a:latin typeface="Titillium Web"/>
                <a:ea typeface="Titillium Web"/>
                <a:cs typeface="Titillium Web"/>
                <a:sym typeface="Titillium Web"/>
              </a:rPr>
              <a:t>Meet the team</a:t>
            </a:r>
            <a:endParaRPr b="0" i="0" sz="500" u="none" cap="none" strike="noStrike">
              <a:solidFill>
                <a:srgbClr val="00E29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14"/>
          <p:cNvSpPr txBox="1"/>
          <p:nvPr/>
        </p:nvSpPr>
        <p:spPr>
          <a:xfrm>
            <a:off x="163250" y="2227700"/>
            <a:ext cx="4620900" cy="197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" sz="1600" u="none" cap="none" strike="noStrike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rPr>
              <a:t> </a:t>
            </a:r>
            <a:r>
              <a:rPr b="1" lang="en" sz="160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rPr>
              <a:t>Voucher2</a:t>
            </a:r>
            <a:endParaRPr b="1" i="0" sz="1600" u="none" cap="none" strike="noStrike">
              <a:solidFill>
                <a:schemeClr val="lt1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tillium Web"/>
              <a:buChar char="●"/>
            </a:pPr>
            <a:r>
              <a:rPr lang="en" sz="160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rPr>
              <a:t>Buqwana Xolisile</a:t>
            </a:r>
            <a:endParaRPr b="0" i="0" sz="1600" u="none" cap="none" strike="noStrike">
              <a:solidFill>
                <a:schemeClr val="lt1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tillium Web"/>
              <a:buChar char="●"/>
            </a:pPr>
            <a:r>
              <a:rPr lang="en" sz="160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rPr>
              <a:t>Mathiane </a:t>
            </a:r>
            <a:r>
              <a:rPr lang="en" sz="160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rPr>
              <a:t>Karabo </a:t>
            </a:r>
            <a:endParaRPr b="0" i="0" sz="1600" u="none" cap="none" strike="noStrike">
              <a:solidFill>
                <a:schemeClr val="lt1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tillium Web"/>
              <a:buChar char="●"/>
            </a:pPr>
            <a:r>
              <a:rPr lang="en" sz="160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rPr>
              <a:t>Ndwandwa </a:t>
            </a:r>
            <a:r>
              <a:rPr lang="en" sz="160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rPr>
              <a:t>Lisakhanya </a:t>
            </a:r>
            <a:endParaRPr b="0" i="0" sz="1600" u="none" cap="none" strike="noStrike">
              <a:solidFill>
                <a:schemeClr val="lt1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tillium Web"/>
              <a:buChar char="●"/>
            </a:pPr>
            <a:r>
              <a:rPr lang="en" sz="160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rPr>
              <a:t>Khakhu </a:t>
            </a:r>
            <a:r>
              <a:rPr lang="en" sz="160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rPr>
              <a:t>Rialivhuwa </a:t>
            </a:r>
            <a:endParaRPr b="0" i="0" sz="1600" u="none" cap="none" strike="noStrike">
              <a:solidFill>
                <a:schemeClr val="lt1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tillium Web"/>
              <a:buChar char="●"/>
            </a:pPr>
            <a:r>
              <a:rPr lang="en" sz="160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rPr>
              <a:t>Mbhokane </a:t>
            </a:r>
            <a:r>
              <a:rPr lang="en" sz="160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rPr>
              <a:t>Kwazi </a:t>
            </a:r>
            <a:endParaRPr b="0" i="0" sz="1600" u="none" cap="none" strike="noStrike">
              <a:solidFill>
                <a:schemeClr val="lt1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cxnSp>
        <p:nvCxnSpPr>
          <p:cNvPr id="68" name="Google Shape;68;p14"/>
          <p:cNvCxnSpPr/>
          <p:nvPr/>
        </p:nvCxnSpPr>
        <p:spPr>
          <a:xfrm>
            <a:off x="261751" y="1985056"/>
            <a:ext cx="4791600" cy="0"/>
          </a:xfrm>
          <a:prstGeom prst="straightConnector1">
            <a:avLst/>
          </a:prstGeom>
          <a:noFill/>
          <a:ln cap="flat" cmpd="sng" w="9525">
            <a:solidFill>
              <a:srgbClr val="00E296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69" name="Google Shape;69;p14"/>
          <p:cNvSpPr/>
          <p:nvPr/>
        </p:nvSpPr>
        <p:spPr>
          <a:xfrm>
            <a:off x="5718350" y="1164850"/>
            <a:ext cx="3131400" cy="31053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37415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pic>
        <p:nvPicPr>
          <p:cNvPr id="70" name="Google Shape;70;p14" title="0048_FIH_Logo-White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1755" y="203243"/>
            <a:ext cx="1371602" cy="330797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14" title="Photo of Team.jpeg"/>
          <p:cNvPicPr preferRelativeResize="0"/>
          <p:nvPr/>
        </p:nvPicPr>
        <p:blipFill rotWithShape="1">
          <a:blip r:embed="rId4">
            <a:alphaModFix/>
          </a:blip>
          <a:srcRect b="0" l="0" r="0" t="-2902"/>
          <a:stretch/>
        </p:blipFill>
        <p:spPr>
          <a:xfrm>
            <a:off x="5718350" y="1093775"/>
            <a:ext cx="3195375" cy="3176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/>
          <p:cNvSpPr txBox="1"/>
          <p:nvPr/>
        </p:nvSpPr>
        <p:spPr>
          <a:xfrm>
            <a:off x="510564" y="1168200"/>
            <a:ext cx="4620900" cy="5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100F4"/>
              </a:buClr>
              <a:buSzPts val="3900"/>
              <a:buFont typeface="Titillium Web"/>
              <a:buNone/>
            </a:pPr>
            <a:r>
              <a:rPr b="1" i="0" lang="en" sz="3900" u="none" cap="none" strike="noStrike">
                <a:solidFill>
                  <a:srgbClr val="00E296"/>
                </a:solidFill>
                <a:latin typeface="Titillium Web"/>
                <a:ea typeface="Titillium Web"/>
                <a:cs typeface="Titillium Web"/>
                <a:sym typeface="Titillium Web"/>
              </a:rPr>
              <a:t>Problem statement</a:t>
            </a:r>
            <a:endParaRPr b="0" i="0" sz="500" u="none" cap="none" strike="noStrike">
              <a:solidFill>
                <a:srgbClr val="00E29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15"/>
          <p:cNvSpPr txBox="1"/>
          <p:nvPr/>
        </p:nvSpPr>
        <p:spPr>
          <a:xfrm>
            <a:off x="379950" y="2163800"/>
            <a:ext cx="8384100" cy="197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Titillium Web"/>
              <a:buChar char="●"/>
            </a:pPr>
            <a:r>
              <a:rPr lang="en" sz="1600">
                <a:solidFill>
                  <a:srgbClr val="FFFFFF"/>
                </a:solidFill>
                <a:latin typeface="Titillium Web"/>
                <a:ea typeface="Titillium Web"/>
                <a:cs typeface="Titillium Web"/>
                <a:sym typeface="Titillium Web"/>
              </a:rPr>
              <a:t>Voucher shortfalls trigger checkout failures.</a:t>
            </a:r>
            <a:endParaRPr sz="1600">
              <a:solidFill>
                <a:srgbClr val="FFFFFF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Titillium Web"/>
              <a:buChar char="●"/>
            </a:pPr>
            <a:r>
              <a:rPr lang="en" sz="1600">
                <a:solidFill>
                  <a:srgbClr val="FFFFFF"/>
                </a:solidFill>
                <a:latin typeface="Titillium Web"/>
                <a:ea typeface="Titillium Web"/>
                <a:cs typeface="Titillium Web"/>
                <a:sym typeface="Titillium Web"/>
              </a:rPr>
              <a:t>Legacy infrastructure blocks instant top-ups.</a:t>
            </a:r>
            <a:endParaRPr sz="1600">
              <a:solidFill>
                <a:srgbClr val="FFFFFF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Titillium Web"/>
              <a:buChar char="●"/>
            </a:pPr>
            <a:r>
              <a:rPr lang="en" sz="1600">
                <a:solidFill>
                  <a:srgbClr val="FFFFFF"/>
                </a:solidFill>
                <a:latin typeface="Titillium Web"/>
                <a:ea typeface="Titillium Web"/>
                <a:cs typeface="Titillium Web"/>
                <a:sym typeface="Titillium Web"/>
              </a:rPr>
              <a:t>Merchants lose critical sales conversion.</a:t>
            </a:r>
            <a:endParaRPr sz="1600">
              <a:solidFill>
                <a:srgbClr val="FFFFFF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Titillium Web"/>
              <a:buChar char="●"/>
            </a:pPr>
            <a:r>
              <a:rPr lang="en" sz="1600">
                <a:solidFill>
                  <a:srgbClr val="FFFFFF"/>
                </a:solidFill>
                <a:latin typeface="Titillium Web"/>
                <a:ea typeface="Titillium Web"/>
                <a:cs typeface="Titillium Web"/>
                <a:sym typeface="Titillium Web"/>
              </a:rPr>
              <a:t>Open Payments Interledger streams unified payment sources.</a:t>
            </a:r>
            <a:endParaRPr sz="1600">
              <a:solidFill>
                <a:srgbClr val="FFFFFF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1F1F1F"/>
              </a:solidFill>
            </a:endParaRPr>
          </a:p>
        </p:txBody>
      </p:sp>
      <p:cxnSp>
        <p:nvCxnSpPr>
          <p:cNvPr id="78" name="Google Shape;78;p15"/>
          <p:cNvCxnSpPr/>
          <p:nvPr/>
        </p:nvCxnSpPr>
        <p:spPr>
          <a:xfrm flipH="1" rot="10800000">
            <a:off x="510576" y="1921156"/>
            <a:ext cx="7976100" cy="63900"/>
          </a:xfrm>
          <a:prstGeom prst="straightConnector1">
            <a:avLst/>
          </a:prstGeom>
          <a:noFill/>
          <a:ln cap="flat" cmpd="sng" w="9525">
            <a:solidFill>
              <a:srgbClr val="00E296"/>
            </a:solidFill>
            <a:prstDash val="solid"/>
            <a:round/>
            <a:headEnd len="sm" w="sm" type="none"/>
            <a:tailEnd len="med" w="med" type="stealth"/>
          </a:ln>
        </p:spPr>
      </p:cxnSp>
      <p:pic>
        <p:nvPicPr>
          <p:cNvPr id="79" name="Google Shape;79;p15" title="0048_FIH_Logo-White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1755" y="203243"/>
            <a:ext cx="1371602" cy="3307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 txBox="1"/>
          <p:nvPr/>
        </p:nvSpPr>
        <p:spPr>
          <a:xfrm>
            <a:off x="510564" y="641725"/>
            <a:ext cx="4620900" cy="5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100F4"/>
              </a:buClr>
              <a:buSzPts val="3900"/>
              <a:buFont typeface="Titillium Web"/>
              <a:buNone/>
            </a:pPr>
            <a:r>
              <a:rPr b="1" i="0" lang="en" sz="3900" u="none" cap="none" strike="noStrike">
                <a:solidFill>
                  <a:srgbClr val="00E296"/>
                </a:solidFill>
                <a:latin typeface="Titillium Web"/>
                <a:ea typeface="Titillium Web"/>
                <a:cs typeface="Titillium Web"/>
                <a:sym typeface="Titillium Web"/>
              </a:rPr>
              <a:t>Solution</a:t>
            </a:r>
            <a:endParaRPr b="0" i="0" sz="500" u="none" cap="none" strike="noStrike">
              <a:solidFill>
                <a:srgbClr val="00E29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5" name="Google Shape;85;p16"/>
          <p:cNvCxnSpPr/>
          <p:nvPr/>
        </p:nvCxnSpPr>
        <p:spPr>
          <a:xfrm>
            <a:off x="510576" y="1306181"/>
            <a:ext cx="5456100" cy="0"/>
          </a:xfrm>
          <a:prstGeom prst="straightConnector1">
            <a:avLst/>
          </a:prstGeom>
          <a:noFill/>
          <a:ln cap="flat" cmpd="sng" w="9525">
            <a:solidFill>
              <a:srgbClr val="00E296"/>
            </a:solidFill>
            <a:prstDash val="solid"/>
            <a:round/>
            <a:headEnd len="sm" w="sm" type="none"/>
            <a:tailEnd len="med" w="med" type="stealth"/>
          </a:ln>
        </p:spPr>
      </p:cxnSp>
      <p:pic>
        <p:nvPicPr>
          <p:cNvPr id="86" name="Google Shape;86;p16" title="0048_FIH_Logo-White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1755" y="203243"/>
            <a:ext cx="1371602" cy="33079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7" name="Google Shape;87;p16"/>
          <p:cNvGrpSpPr/>
          <p:nvPr/>
        </p:nvGrpSpPr>
        <p:grpSpPr>
          <a:xfrm>
            <a:off x="571500" y="2047875"/>
            <a:ext cx="1524000" cy="762000"/>
            <a:chOff x="571500" y="2047875"/>
            <a:chExt cx="1524000" cy="762000"/>
          </a:xfrm>
        </p:grpSpPr>
        <p:sp>
          <p:nvSpPr>
            <p:cNvPr id="88" name="Google Shape;88;p16"/>
            <p:cNvSpPr/>
            <p:nvPr/>
          </p:nvSpPr>
          <p:spPr>
            <a:xfrm>
              <a:off x="571500" y="2047875"/>
              <a:ext cx="1524000" cy="762000"/>
            </a:xfrm>
            <a:prstGeom prst="roundRect">
              <a:avLst>
                <a:gd fmla="val 12500" name="adj"/>
              </a:avLst>
            </a:prstGeom>
            <a:solidFill>
              <a:srgbClr val="1A1F36"/>
            </a:solidFill>
            <a:ln cap="flat" cmpd="sng" w="19050">
              <a:solidFill>
                <a:srgbClr val="00E29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p16"/>
            <p:cNvSpPr txBox="1"/>
            <p:nvPr/>
          </p:nvSpPr>
          <p:spPr>
            <a:xfrm>
              <a:off x="666750" y="2143125"/>
              <a:ext cx="1333500" cy="571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FFFFFF"/>
                  </a:solidFill>
                  <a:latin typeface="Titillium Web"/>
                  <a:ea typeface="Titillium Web"/>
                  <a:cs typeface="Titillium Web"/>
                  <a:sym typeface="Titillium Web"/>
                </a:rPr>
                <a:t>Purchase X</a:t>
              </a:r>
              <a:endParaRPr b="1" sz="1100">
                <a:solidFill>
                  <a:srgbClr val="FFFFFF"/>
                </a:solidFill>
                <a:latin typeface="Titillium Web"/>
                <a:ea typeface="Titillium Web"/>
                <a:cs typeface="Titillium Web"/>
                <a:sym typeface="Titillium Web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CBD5E1"/>
                  </a:solidFill>
                  <a:latin typeface="Titillium Web"/>
                  <a:ea typeface="Titillium Web"/>
                  <a:cs typeface="Titillium Web"/>
                  <a:sym typeface="Titillium Web"/>
                </a:rPr>
                <a:t>from A</a:t>
              </a:r>
              <a:endParaRPr b="1" sz="1100">
                <a:solidFill>
                  <a:srgbClr val="CBD5E1"/>
                </a:solidFill>
                <a:latin typeface="Titillium Web"/>
                <a:ea typeface="Titillium Web"/>
                <a:cs typeface="Titillium Web"/>
                <a:sym typeface="Titillium Web"/>
              </a:endParaRPr>
            </a:p>
          </p:txBody>
        </p:sp>
      </p:grpSp>
      <p:grpSp>
        <p:nvGrpSpPr>
          <p:cNvPr id="90" name="Google Shape;90;p16"/>
          <p:cNvGrpSpPr/>
          <p:nvPr/>
        </p:nvGrpSpPr>
        <p:grpSpPr>
          <a:xfrm>
            <a:off x="2095500" y="2381250"/>
            <a:ext cx="362100" cy="76200"/>
            <a:chOff x="2095500" y="2381250"/>
            <a:chExt cx="362100" cy="76200"/>
          </a:xfrm>
        </p:grpSpPr>
        <p:cxnSp>
          <p:nvCxnSpPr>
            <p:cNvPr id="91" name="Google Shape;91;p16"/>
            <p:cNvCxnSpPr/>
            <p:nvPr/>
          </p:nvCxnSpPr>
          <p:spPr>
            <a:xfrm>
              <a:off x="2095500" y="2419350"/>
              <a:ext cx="362100" cy="0"/>
            </a:xfrm>
            <a:prstGeom prst="straightConnector1">
              <a:avLst/>
            </a:prstGeom>
            <a:solidFill>
              <a:srgbClr val="FFFFFF"/>
            </a:solidFill>
            <a:ln cap="flat" cmpd="sng" w="19050">
              <a:solidFill>
                <a:srgbClr val="00E296"/>
              </a:solidFill>
              <a:prstDash val="solid"/>
              <a:round/>
              <a:headEnd len="sm" w="sm" type="none"/>
              <a:tailEnd len="sm" w="sm" type="none"/>
            </a:ln>
          </p:spPr>
        </p:cxnSp>
        <p:pic>
          <p:nvPicPr>
            <p:cNvPr id="92" name="Google Shape;92;p1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400300" y="2381250"/>
              <a:ext cx="57300" cy="762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3" name="Google Shape;93;p16"/>
          <p:cNvSpPr txBox="1"/>
          <p:nvPr/>
        </p:nvSpPr>
        <p:spPr>
          <a:xfrm>
            <a:off x="2762250" y="1938988"/>
            <a:ext cx="14289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90"/>
              <a:t>`</a:t>
            </a:r>
            <a:endParaRPr sz="119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50">
                <a:solidFill>
                  <a:srgbClr val="FFFFFF"/>
                </a:solidFill>
                <a:latin typeface="Titillium Web"/>
                <a:ea typeface="Titillium Web"/>
                <a:cs typeface="Titillium Web"/>
                <a:sym typeface="Titillium Web"/>
              </a:rPr>
              <a:t>Check for</a:t>
            </a:r>
            <a:br>
              <a:rPr b="1" lang="en" sz="850">
                <a:solidFill>
                  <a:srgbClr val="FFFFFF"/>
                </a:solidFill>
                <a:latin typeface="Titillium Web"/>
                <a:ea typeface="Titillium Web"/>
                <a:cs typeface="Titillium Web"/>
                <a:sym typeface="Titillium Web"/>
              </a:rPr>
            </a:br>
            <a:r>
              <a:rPr b="1" lang="en" sz="850">
                <a:solidFill>
                  <a:srgbClr val="FFFFFF"/>
                </a:solidFill>
                <a:latin typeface="Titillium Web"/>
                <a:ea typeface="Titillium Web"/>
                <a:cs typeface="Titillium Web"/>
                <a:sym typeface="Titillium Web"/>
              </a:rPr>
              <a:t>eligible</a:t>
            </a:r>
            <a:br>
              <a:rPr b="1" lang="en" sz="850">
                <a:solidFill>
                  <a:srgbClr val="FFFFFF"/>
                </a:solidFill>
                <a:latin typeface="Titillium Web"/>
                <a:ea typeface="Titillium Web"/>
                <a:cs typeface="Titillium Web"/>
                <a:sym typeface="Titillium Web"/>
              </a:rPr>
            </a:br>
            <a:r>
              <a:rPr b="1" lang="en" sz="850">
                <a:solidFill>
                  <a:srgbClr val="FFFFFF"/>
                </a:solidFill>
                <a:latin typeface="Titillium Web"/>
                <a:ea typeface="Titillium Web"/>
                <a:cs typeface="Titillium Web"/>
                <a:sym typeface="Titillium Web"/>
              </a:rPr>
              <a:t>Vouchers</a:t>
            </a:r>
            <a:endParaRPr b="1" sz="850">
              <a:solidFill>
                <a:srgbClr val="FFFFFF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90"/>
              <a:t>`</a:t>
            </a:r>
            <a:endParaRPr sz="1190"/>
          </a:p>
        </p:txBody>
      </p:sp>
      <p:pic>
        <p:nvPicPr>
          <p:cNvPr id="94" name="Google Shape;9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57450" y="1800225"/>
            <a:ext cx="2038500" cy="12384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5" name="Google Shape;95;p16"/>
          <p:cNvGrpSpPr/>
          <p:nvPr/>
        </p:nvGrpSpPr>
        <p:grpSpPr>
          <a:xfrm>
            <a:off x="3438525" y="3005138"/>
            <a:ext cx="76200" cy="309713"/>
            <a:chOff x="3438525" y="3005138"/>
            <a:chExt cx="76200" cy="309713"/>
          </a:xfrm>
        </p:grpSpPr>
        <p:cxnSp>
          <p:nvCxnSpPr>
            <p:cNvPr id="96" name="Google Shape;96;p16"/>
            <p:cNvCxnSpPr/>
            <p:nvPr/>
          </p:nvCxnSpPr>
          <p:spPr>
            <a:xfrm>
              <a:off x="3476625" y="3005138"/>
              <a:ext cx="0" cy="309600"/>
            </a:xfrm>
            <a:prstGeom prst="straightConnector1">
              <a:avLst/>
            </a:prstGeom>
            <a:solidFill>
              <a:srgbClr val="FFFFFF"/>
            </a:solidFill>
            <a:ln cap="flat" cmpd="sng" w="19050">
              <a:solidFill>
                <a:srgbClr val="00E296"/>
              </a:solidFill>
              <a:prstDash val="solid"/>
              <a:round/>
              <a:headEnd len="sm" w="sm" type="none"/>
              <a:tailEnd len="sm" w="sm" type="none"/>
            </a:ln>
          </p:spPr>
        </p:cxnSp>
        <p:pic>
          <p:nvPicPr>
            <p:cNvPr id="97" name="Google Shape;97;p16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3438525" y="3257550"/>
              <a:ext cx="76200" cy="573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8" name="Google Shape;98;p16"/>
          <p:cNvGrpSpPr/>
          <p:nvPr/>
        </p:nvGrpSpPr>
        <p:grpSpPr>
          <a:xfrm>
            <a:off x="2455945" y="3371355"/>
            <a:ext cx="1905000" cy="857400"/>
            <a:chOff x="2571745" y="3333755"/>
            <a:chExt cx="1905000" cy="857400"/>
          </a:xfrm>
        </p:grpSpPr>
        <p:sp>
          <p:nvSpPr>
            <p:cNvPr id="99" name="Google Shape;99;p16"/>
            <p:cNvSpPr/>
            <p:nvPr/>
          </p:nvSpPr>
          <p:spPr>
            <a:xfrm>
              <a:off x="2571745" y="3333755"/>
              <a:ext cx="1905000" cy="857400"/>
            </a:xfrm>
            <a:prstGeom prst="roundRect">
              <a:avLst>
                <a:gd fmla="val 11111" name="adj"/>
              </a:avLst>
            </a:prstGeom>
            <a:solidFill>
              <a:srgbClr val="1A1F36"/>
            </a:solidFill>
            <a:ln cap="flat" cmpd="sng" w="19050">
              <a:solidFill>
                <a:srgbClr val="00E29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p16"/>
            <p:cNvSpPr txBox="1"/>
            <p:nvPr/>
          </p:nvSpPr>
          <p:spPr>
            <a:xfrm>
              <a:off x="2571745" y="3429005"/>
              <a:ext cx="1809600" cy="666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47625" lIns="47625" spcFirstLastPara="1" rIns="47625" wrap="square" tIns="476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35">
                  <a:solidFill>
                    <a:srgbClr val="FFFFFF"/>
                  </a:solidFill>
                  <a:latin typeface="Titillium Web"/>
                  <a:ea typeface="Titillium Web"/>
                  <a:cs typeface="Titillium Web"/>
                  <a:sym typeface="Titillium Web"/>
                </a:rPr>
                <a:t>Redeem entire voucher amount.</a:t>
              </a:r>
              <a:endParaRPr b="1" sz="935">
                <a:solidFill>
                  <a:srgbClr val="FFFFFF"/>
                </a:solidFill>
                <a:latin typeface="Titillium Web"/>
                <a:ea typeface="Titillium Web"/>
                <a:cs typeface="Titillium Web"/>
                <a:sym typeface="Titillium Web"/>
              </a:endParaRPr>
            </a:p>
            <a:p>
              <a:pPr indent="0" lvl="0" marL="0" rtl="0" algn="ctr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" sz="1035">
                  <a:solidFill>
                    <a:srgbClr val="CBD5E1"/>
                  </a:solidFill>
                  <a:latin typeface="Titillium Web"/>
                  <a:ea typeface="Titillium Web"/>
                  <a:cs typeface="Titillium Web"/>
                  <a:sym typeface="Titillium Web"/>
                </a:rPr>
                <a:t>Top-up paid from customer wallet.</a:t>
              </a:r>
              <a:endParaRPr b="1" sz="1035">
                <a:solidFill>
                  <a:srgbClr val="CBD5E1"/>
                </a:solidFill>
                <a:latin typeface="Titillium Web"/>
                <a:ea typeface="Titillium Web"/>
                <a:cs typeface="Titillium Web"/>
                <a:sym typeface="Titillium Web"/>
              </a:endParaRPr>
            </a:p>
          </p:txBody>
        </p:sp>
      </p:grpSp>
      <p:grpSp>
        <p:nvGrpSpPr>
          <p:cNvPr id="101" name="Google Shape;101;p16"/>
          <p:cNvGrpSpPr/>
          <p:nvPr/>
        </p:nvGrpSpPr>
        <p:grpSpPr>
          <a:xfrm>
            <a:off x="4448175" y="2381250"/>
            <a:ext cx="362100" cy="76200"/>
            <a:chOff x="4448175" y="2381250"/>
            <a:chExt cx="362100" cy="76200"/>
          </a:xfrm>
        </p:grpSpPr>
        <p:cxnSp>
          <p:nvCxnSpPr>
            <p:cNvPr id="102" name="Google Shape;102;p16"/>
            <p:cNvCxnSpPr/>
            <p:nvPr/>
          </p:nvCxnSpPr>
          <p:spPr>
            <a:xfrm>
              <a:off x="4448175" y="2419350"/>
              <a:ext cx="362100" cy="0"/>
            </a:xfrm>
            <a:prstGeom prst="straightConnector1">
              <a:avLst/>
            </a:prstGeom>
            <a:solidFill>
              <a:srgbClr val="FFFFFF"/>
            </a:solidFill>
            <a:ln cap="flat" cmpd="sng" w="19050">
              <a:solidFill>
                <a:srgbClr val="00E296"/>
              </a:solidFill>
              <a:prstDash val="solid"/>
              <a:round/>
              <a:headEnd len="sm" w="sm" type="none"/>
              <a:tailEnd len="sm" w="sm" type="none"/>
            </a:ln>
          </p:spPr>
        </p:cxnSp>
        <p:pic>
          <p:nvPicPr>
            <p:cNvPr id="103" name="Google Shape;103;p1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752975" y="2381250"/>
              <a:ext cx="57300" cy="762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4" name="Google Shape;104;p16"/>
          <p:cNvGrpSpPr/>
          <p:nvPr/>
        </p:nvGrpSpPr>
        <p:grpSpPr>
          <a:xfrm>
            <a:off x="4852988" y="2038350"/>
            <a:ext cx="1714500" cy="762000"/>
            <a:chOff x="4857750" y="2047875"/>
            <a:chExt cx="1714500" cy="762000"/>
          </a:xfrm>
        </p:grpSpPr>
        <p:sp>
          <p:nvSpPr>
            <p:cNvPr id="105" name="Google Shape;105;p16"/>
            <p:cNvSpPr/>
            <p:nvPr/>
          </p:nvSpPr>
          <p:spPr>
            <a:xfrm>
              <a:off x="4857750" y="2047875"/>
              <a:ext cx="1714500" cy="762000"/>
            </a:xfrm>
            <a:prstGeom prst="roundRect">
              <a:avLst>
                <a:gd fmla="val 12500" name="adj"/>
              </a:avLst>
            </a:prstGeom>
            <a:solidFill>
              <a:srgbClr val="1A1F36"/>
            </a:solidFill>
            <a:ln cap="flat" cmpd="sng" w="19050">
              <a:solidFill>
                <a:srgbClr val="00E29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p16"/>
            <p:cNvSpPr txBox="1"/>
            <p:nvPr/>
          </p:nvSpPr>
          <p:spPr>
            <a:xfrm>
              <a:off x="4953000" y="2143125"/>
              <a:ext cx="1524000" cy="571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FFFFFF"/>
                  </a:solidFill>
                  <a:latin typeface="Titillium Web"/>
                  <a:ea typeface="Titillium Web"/>
                  <a:cs typeface="Titillium Web"/>
                  <a:sym typeface="Titillium Web"/>
                </a:rPr>
                <a:t>Deduct from</a:t>
              </a:r>
              <a:endParaRPr b="1" sz="1100">
                <a:solidFill>
                  <a:srgbClr val="FFFFFF"/>
                </a:solidFill>
                <a:latin typeface="Titillium Web"/>
                <a:ea typeface="Titillium Web"/>
                <a:cs typeface="Titillium Web"/>
                <a:sym typeface="Titillium Web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FFFFFF"/>
                  </a:solidFill>
                  <a:latin typeface="Titillium Web"/>
                  <a:ea typeface="Titillium Web"/>
                  <a:cs typeface="Titillium Web"/>
                  <a:sym typeface="Titillium Web"/>
                </a:rPr>
                <a:t>voucher balance</a:t>
              </a:r>
              <a:endParaRPr b="1" sz="1100">
                <a:solidFill>
                  <a:srgbClr val="FFFFFF"/>
                </a:solidFill>
                <a:latin typeface="Titillium Web"/>
                <a:ea typeface="Titillium Web"/>
                <a:cs typeface="Titillium Web"/>
                <a:sym typeface="Titillium Web"/>
              </a:endParaRPr>
            </a:p>
          </p:txBody>
        </p:sp>
      </p:grpSp>
      <p:grpSp>
        <p:nvGrpSpPr>
          <p:cNvPr id="107" name="Google Shape;107;p16"/>
          <p:cNvGrpSpPr/>
          <p:nvPr/>
        </p:nvGrpSpPr>
        <p:grpSpPr>
          <a:xfrm>
            <a:off x="6572250" y="2381250"/>
            <a:ext cx="333525" cy="76200"/>
            <a:chOff x="6572250" y="2381250"/>
            <a:chExt cx="333525" cy="76200"/>
          </a:xfrm>
        </p:grpSpPr>
        <p:cxnSp>
          <p:nvCxnSpPr>
            <p:cNvPr id="108" name="Google Shape;108;p16"/>
            <p:cNvCxnSpPr/>
            <p:nvPr/>
          </p:nvCxnSpPr>
          <p:spPr>
            <a:xfrm>
              <a:off x="6572250" y="2419350"/>
              <a:ext cx="333300" cy="0"/>
            </a:xfrm>
            <a:prstGeom prst="straightConnector1">
              <a:avLst/>
            </a:prstGeom>
            <a:solidFill>
              <a:srgbClr val="FFFFFF"/>
            </a:solidFill>
            <a:ln cap="flat" cmpd="sng" w="19050">
              <a:solidFill>
                <a:srgbClr val="00E296"/>
              </a:solidFill>
              <a:prstDash val="solid"/>
              <a:round/>
              <a:headEnd len="sm" w="sm" type="none"/>
              <a:tailEnd len="sm" w="sm" type="none"/>
            </a:ln>
          </p:spPr>
        </p:cxnSp>
        <p:pic>
          <p:nvPicPr>
            <p:cNvPr id="109" name="Google Shape;109;p1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848475" y="2381250"/>
              <a:ext cx="57300" cy="762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0" name="Google Shape;110;p16"/>
          <p:cNvGrpSpPr/>
          <p:nvPr/>
        </p:nvGrpSpPr>
        <p:grpSpPr>
          <a:xfrm>
            <a:off x="6953250" y="2047875"/>
            <a:ext cx="1524000" cy="762000"/>
            <a:chOff x="6953250" y="2047875"/>
            <a:chExt cx="1524000" cy="762000"/>
          </a:xfrm>
        </p:grpSpPr>
        <p:sp>
          <p:nvSpPr>
            <p:cNvPr id="111" name="Google Shape;111;p16"/>
            <p:cNvSpPr/>
            <p:nvPr/>
          </p:nvSpPr>
          <p:spPr>
            <a:xfrm>
              <a:off x="6953250" y="2047875"/>
              <a:ext cx="1524000" cy="762000"/>
            </a:xfrm>
            <a:prstGeom prst="roundRect">
              <a:avLst>
                <a:gd fmla="val 12500" name="adj"/>
              </a:avLst>
            </a:prstGeom>
            <a:solidFill>
              <a:srgbClr val="1A1F36"/>
            </a:solidFill>
            <a:ln cap="flat" cmpd="sng" w="19050">
              <a:solidFill>
                <a:srgbClr val="00E29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6"/>
            <p:cNvSpPr txBox="1"/>
            <p:nvPr/>
          </p:nvSpPr>
          <p:spPr>
            <a:xfrm>
              <a:off x="7048500" y="2143125"/>
              <a:ext cx="1333500" cy="571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FFFFFF"/>
                  </a:solidFill>
                  <a:latin typeface="Titillium Web"/>
                  <a:ea typeface="Titillium Web"/>
                  <a:cs typeface="Titillium Web"/>
                  <a:sym typeface="Titillium Web"/>
                </a:rPr>
                <a:t>Merchant</a:t>
              </a:r>
              <a:endParaRPr b="1" sz="1100">
                <a:solidFill>
                  <a:srgbClr val="FFFFFF"/>
                </a:solidFill>
                <a:latin typeface="Titillium Web"/>
                <a:ea typeface="Titillium Web"/>
                <a:cs typeface="Titillium Web"/>
                <a:sym typeface="Titillium Web"/>
              </a:endParaRPr>
            </a:p>
          </p:txBody>
        </p:sp>
      </p:grpSp>
      <p:grpSp>
        <p:nvGrpSpPr>
          <p:cNvPr id="113" name="Google Shape;113;p16"/>
          <p:cNvGrpSpPr/>
          <p:nvPr/>
        </p:nvGrpSpPr>
        <p:grpSpPr>
          <a:xfrm>
            <a:off x="4362450" y="2857500"/>
            <a:ext cx="3390900" cy="952500"/>
            <a:chOff x="4362450" y="2857500"/>
            <a:chExt cx="3390900" cy="952500"/>
          </a:xfrm>
        </p:grpSpPr>
        <p:pic>
          <p:nvPicPr>
            <p:cNvPr id="114" name="Google Shape;114;p16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4362450" y="2857500"/>
              <a:ext cx="3362400" cy="952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5" name="Google Shape;115;p16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7677150" y="2857500"/>
              <a:ext cx="76200" cy="57300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116" name="Google Shape;116;p16"/>
          <p:cNvCxnSpPr>
            <a:endCxn id="111" idx="2"/>
          </p:cNvCxnSpPr>
          <p:nvPr/>
        </p:nvCxnSpPr>
        <p:spPr>
          <a:xfrm flipH="1" rot="10800000">
            <a:off x="7691250" y="2809875"/>
            <a:ext cx="24000" cy="968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7" name="Google Shape;117;p16"/>
          <p:cNvSpPr txBox="1"/>
          <p:nvPr/>
        </p:nvSpPr>
        <p:spPr>
          <a:xfrm>
            <a:off x="4365625" y="1952625"/>
            <a:ext cx="324000" cy="2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118" name="Google Shape;118;p16"/>
          <p:cNvSpPr txBox="1"/>
          <p:nvPr/>
        </p:nvSpPr>
        <p:spPr>
          <a:xfrm>
            <a:off x="2712248" y="2211525"/>
            <a:ext cx="1524000" cy="434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47625" lIns="47625" spcFirstLastPara="1" rIns="47625" wrap="square" tIns="476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FFFFFF"/>
                </a:solidFill>
                <a:latin typeface="Titillium Web"/>
                <a:ea typeface="Titillium Web"/>
                <a:cs typeface="Titillium Web"/>
                <a:sym typeface="Titillium Web"/>
              </a:rPr>
              <a:t>Check for eligible voucher funds</a:t>
            </a:r>
            <a:endParaRPr b="1" sz="1100">
              <a:solidFill>
                <a:srgbClr val="FFFFFF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119" name="Google Shape;119;p16"/>
          <p:cNvSpPr txBox="1"/>
          <p:nvPr/>
        </p:nvSpPr>
        <p:spPr>
          <a:xfrm>
            <a:off x="3514725" y="2981573"/>
            <a:ext cx="555600" cy="276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47625" lIns="47625" spcFirstLastPara="1" rIns="47625" wrap="square" tIns="47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rPr>
              <a:t>No</a:t>
            </a:r>
            <a:endParaRPr b="1" sz="1100">
              <a:solidFill>
                <a:schemeClr val="lt1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120" name="Google Shape;120;p16"/>
          <p:cNvSpPr txBox="1"/>
          <p:nvPr/>
        </p:nvSpPr>
        <p:spPr>
          <a:xfrm>
            <a:off x="4360950" y="2032100"/>
            <a:ext cx="555600" cy="276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47625" lIns="47625" spcFirstLastPara="1" rIns="47625" wrap="square" tIns="47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rPr>
              <a:t>Yes</a:t>
            </a:r>
            <a:endParaRPr b="1" sz="1100">
              <a:solidFill>
                <a:schemeClr val="lt1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5" name="Google Shape;125;p17"/>
          <p:cNvCxnSpPr/>
          <p:nvPr/>
        </p:nvCxnSpPr>
        <p:spPr>
          <a:xfrm>
            <a:off x="469551" y="1533631"/>
            <a:ext cx="5456100" cy="0"/>
          </a:xfrm>
          <a:prstGeom prst="straightConnector1">
            <a:avLst/>
          </a:prstGeom>
          <a:noFill/>
          <a:ln cap="flat" cmpd="sng" w="9525">
            <a:solidFill>
              <a:srgbClr val="00E296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26" name="Google Shape;126;p17"/>
          <p:cNvSpPr txBox="1"/>
          <p:nvPr/>
        </p:nvSpPr>
        <p:spPr>
          <a:xfrm>
            <a:off x="387475" y="752375"/>
            <a:ext cx="3000000" cy="7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900">
                <a:solidFill>
                  <a:srgbClr val="00E296"/>
                </a:solidFill>
                <a:latin typeface="Titillium Web"/>
                <a:ea typeface="Titillium Web"/>
                <a:cs typeface="Titillium Web"/>
                <a:sym typeface="Titillium Web"/>
              </a:rPr>
              <a:t>Solution</a:t>
            </a:r>
            <a:endParaRPr/>
          </a:p>
        </p:txBody>
      </p:sp>
      <p:pic>
        <p:nvPicPr>
          <p:cNvPr id="127" name="Google Shape;127;p17" title="0048_FIH_Logo-White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1755" y="203243"/>
            <a:ext cx="1371602" cy="330797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7"/>
          <p:cNvSpPr txBox="1"/>
          <p:nvPr/>
        </p:nvSpPr>
        <p:spPr>
          <a:xfrm>
            <a:off x="387475" y="1792025"/>
            <a:ext cx="8375400" cy="124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800">
              <a:solidFill>
                <a:srgbClr val="FFFFFF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Libre Franklin"/>
              <a:buChar char="●"/>
            </a:pPr>
            <a:r>
              <a:rPr lang="en" sz="1300">
                <a:solidFill>
                  <a:schemeClr val="lt2"/>
                </a:solidFill>
              </a:rPr>
              <a:t>Uses </a:t>
            </a:r>
            <a:r>
              <a:rPr b="1" lang="en" sz="1300">
                <a:solidFill>
                  <a:schemeClr val="lt2"/>
                </a:solidFill>
              </a:rPr>
              <a:t>Interledger</a:t>
            </a:r>
            <a:r>
              <a:rPr lang="en" sz="1300">
                <a:solidFill>
                  <a:schemeClr val="lt2"/>
                </a:solidFill>
              </a:rPr>
              <a:t> to compose funds in the user's wallet. </a:t>
            </a:r>
            <a:endParaRPr sz="1300">
              <a:solidFill>
                <a:schemeClr val="lt2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Char char="●"/>
            </a:pPr>
            <a:r>
              <a:rPr lang="en" sz="1300">
                <a:solidFill>
                  <a:schemeClr val="lt2"/>
                </a:solidFill>
              </a:rPr>
              <a:t>Merchants keep existing systems unchanged. </a:t>
            </a:r>
            <a:endParaRPr sz="1300">
              <a:solidFill>
                <a:schemeClr val="lt2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FFFFFF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8"/>
          <p:cNvSpPr txBox="1"/>
          <p:nvPr/>
        </p:nvSpPr>
        <p:spPr>
          <a:xfrm>
            <a:off x="510564" y="1168200"/>
            <a:ext cx="4620900" cy="5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100F4"/>
              </a:buClr>
              <a:buSzPts val="3900"/>
              <a:buFont typeface="Titillium Web"/>
              <a:buNone/>
            </a:pPr>
            <a:r>
              <a:rPr b="1" i="0" lang="en" sz="3900" u="none" cap="none" strike="noStrike">
                <a:solidFill>
                  <a:srgbClr val="00E296"/>
                </a:solidFill>
                <a:latin typeface="Titillium Web"/>
                <a:ea typeface="Titillium Web"/>
                <a:cs typeface="Titillium Web"/>
                <a:sym typeface="Titillium Web"/>
              </a:rPr>
              <a:t>Conclusion</a:t>
            </a:r>
            <a:endParaRPr b="0" i="0" sz="500" u="none" cap="none" strike="noStrike">
              <a:solidFill>
                <a:srgbClr val="00E29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18"/>
          <p:cNvSpPr txBox="1"/>
          <p:nvPr/>
        </p:nvSpPr>
        <p:spPr>
          <a:xfrm>
            <a:off x="405300" y="2187725"/>
            <a:ext cx="6155700" cy="197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tillium Web"/>
              <a:buChar char="●"/>
            </a:pPr>
            <a:r>
              <a:rPr lang="en" sz="160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rPr>
              <a:t>Deliver a seamless, interoperable voucher payment system for all users.</a:t>
            </a:r>
            <a:endParaRPr sz="160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cxnSp>
        <p:nvCxnSpPr>
          <p:cNvPr id="135" name="Google Shape;135;p18"/>
          <p:cNvCxnSpPr/>
          <p:nvPr/>
        </p:nvCxnSpPr>
        <p:spPr>
          <a:xfrm>
            <a:off x="510576" y="1985056"/>
            <a:ext cx="5456100" cy="0"/>
          </a:xfrm>
          <a:prstGeom prst="straightConnector1">
            <a:avLst/>
          </a:prstGeom>
          <a:noFill/>
          <a:ln cap="flat" cmpd="sng" w="9525">
            <a:solidFill>
              <a:srgbClr val="00E296"/>
            </a:solidFill>
            <a:prstDash val="solid"/>
            <a:round/>
            <a:headEnd len="sm" w="sm" type="none"/>
            <a:tailEnd len="med" w="med" type="stealth"/>
          </a:ln>
        </p:spPr>
      </p:cxnSp>
      <p:pic>
        <p:nvPicPr>
          <p:cNvPr id="136" name="Google Shape;136;p18" title="0048_FIH_Logo-White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1755" y="203243"/>
            <a:ext cx="1371602" cy="3307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9"/>
          <p:cNvSpPr txBox="1"/>
          <p:nvPr/>
        </p:nvSpPr>
        <p:spPr>
          <a:xfrm>
            <a:off x="405300" y="2187725"/>
            <a:ext cx="8260500" cy="197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" sz="3000" u="none" cap="none" strike="noStrike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rPr>
              <a:t>Thank you.</a:t>
            </a:r>
            <a:endParaRPr b="0" i="0" sz="3000" u="none" cap="none" strike="noStrike">
              <a:solidFill>
                <a:schemeClr val="lt1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pic>
        <p:nvPicPr>
          <p:cNvPr id="142" name="Google Shape;142;p19" title="0048_FIH_Logo-White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1755" y="203243"/>
            <a:ext cx="1371602" cy="3307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Interledg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Interledg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